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ADVANCED SPATIAL STATISTICS &amp; DECISION SCIENCE</a:t>
            </a:r>
          </a:p>
          <a:p>
            <a:pPr>
              <a:spcBef>
                <a:spcPts val="1400"/>
              </a:spcBef>
              <a:defRPr sz="1800">
                <a:solidFill>
                  <a:srgbClr val="2A9D8F"/>
                </a:solidFill>
              </a:defRPr>
            </a:pPr>
            <a:r>
              <a:t>How Location Data and Spatial Modeling Drive Smarter Decisions Across Every Sector</a:t>
            </a:r>
          </a:p>
          <a:p>
            <a:pPr>
              <a:spcBef>
                <a:spcPts val="2000"/>
              </a:spcBef>
              <a:defRPr sz="1300">
                <a:solidFill>
                  <a:srgbClr val="CDD3D8"/>
                </a:solidFill>
              </a:defRPr>
            </a:pPr>
            <a:r>
              <a:t>Every sector starts with a question. Spatial statistics gives the answer.</a:t>
            </a:r>
            <a:br/>
            <a:r>
              <a:t>Covering Disease Epidemiology (Malaria), Health Deserts, Geomarketing, Cultural Geography, and Spatial Econometrics across 9,308 Nigerian Wards.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FOUNDATIONS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The Big Idea: Why Traditional Statistics Fails in the Real World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The Fallacy of the Average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Traditional analytics uses state or national averages.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A state can look moderately healthy on paper, while having hundreds of wards with ZERO clinics.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Decisions based on averages waste money because they fund the wrong places.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Location is not just another column in a spreadsheet—it dictates who has access and who is left behind.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Tobler's First Law of Geography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'Everything is related to everything else, but near things are more related than distant things.' — Waldo Tobler (1970)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Events in one ward do not stay in that ward.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Malaria mosquitoes fly across borders.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Shoppers travel to neighboring markets.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When you invest in Ward A, surrounding Wards B, C, and D also benefit (Spatial Spillovers).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COMPARISON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Spatial Statistics vs. Traditional Statistics: Head-to-Head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Traditional Aspatial Statistics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Core Assumption: Observations are independent and identically distributed (i.i.d.).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Correlation: Pearson/Spearman assumes pairs are isolated in space.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Regression: Standard OLS y = X*beta + e assumes zero error correlation Cov(e_i, e_j) = 0.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Outliers: Measured purely by global z-score (&gt; 3 standard deviations from national mean).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Multiplier: 1.0x (Assumes an investment only impacts the targeted boundary).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Limitation: Blind to geographic clustering, spillovers, and boundary effects.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Advanced Spatial Statistics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Core Foundation: Embraces Tobler's Law—neighboring units are systematically coupled.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Correlation: Global &amp; Bivariate Moran's I accounts for geographic distance and contiguity.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Regression: Spatial Lag (SAR) and Spatial Error (SEM) capture spatial feedback loops.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Outliers: Anselin LISA detects localized anomalies (High-Low and Low-High pockets).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Multiplier: 2.4x (Explicitly measures how investments spill into contiguous wards).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Advantage: Eliminates biased standard errors and unlocks true surgical precision.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ADVANTAGES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The 4 Strategic Advantages of Spatial Statistics in Decision-Making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14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214884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1. Bias Elimination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Prevents Omitted Variable Bias.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In traditional regressions, spatial spillovers hide in the error term, distorting beta coefficients.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Spatial models isolate genuine policy effects from geographic artifacts.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280160"/>
            <a:ext cx="2514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463039"/>
            <a:ext cx="214884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2. True Significance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Stops Type-I Errors.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Non-spatial models produce deflated standard errors and artificially inflated t-statistics.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Spatial modeling proves whether a policy effect is real or just shared regional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2514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214884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76F51"/>
                </a:solidFill>
              </a:defRPr>
            </a:pPr>
            <a:r>
              <a:t>3. Surgical Targeting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Bypasses Crude Quotas.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Instead of dividing money equally across 774 LGAs, Anselin LISA isolates the exact 1,800+ desert wards that need emergency clinics.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Zero wasted capital.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280160"/>
            <a:ext cx="2514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463039"/>
            <a:ext cx="214884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4. Quantified Spillovers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Unlocks the 2.4x Multiplier.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Shows ministers and CEOs that spending $1M in Ward A creates $1.4M of indirect economic activity in contiguous wards.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Justifies regional co-investments.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METHODOLOGY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Why Spatial Statistics Must Come BEFORE Machine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The Trap: Spatial Data Leakage in ML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If you train XGBoost or Random Forest on spatial data with random train/test splits, the model cheats.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Test points neighbor training points, creating artificial 95% accuracy that completely fails when deployed in a new region.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Tree models cannot understand continuous distance—they chop coordinates into rigid square boxes.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Off-the-shelf ML cannot give you causal policy multipliers.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The Solution: Spatial Stats First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1. Spatial Feature Engineering: Calculate Spatial Lags [Wy] and distance decay before feeding data to ML.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2. Spatial Block Cross-Validation: Split data by geographic clusters to prevent data leakage.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3. Spatial Econometrics: Test whether spatial spillovers exist using Lagrange Multiplier (LM) tests.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Spatial statistics provides the foundation that makes Machine Learning valid and reliable.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PIPELINE ARCHITECTURE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The End-to-End Decision Pipeline: From Raw Data to Actions</a:t>
            </a:r>
          </a:p>
        </p:txBody>
      </p:sp>
      <p:pic>
        <p:nvPicPr>
          <p:cNvPr id="5" name="Picture 4" descr="00_architecture_and_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Formula 1: The Spatial Weights Matrix (W)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</a:defRPr>
            </a:pPr>
            <a:r>
              <a:t>How We Connect Geography Mathematically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How do we tell a computer which wards are neighbors?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We create a matrix W where row i and column j represent two wards.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Unstandardized Adjacency: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w_ij = 1  (if Ward i and Ward j share a boundary)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w_ij = 0  (otherwise)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Row-Standardization: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w*_ij = w_ij / sum_k(w_ik)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This makes the weights sum to 1.0 for every ward, so a ward with 10 neighbors is on the same scale as a ward with 3 neighbors.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Queen vs. K-Nearest Neighbors (KNN)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Queen Contiguity: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Wards are neighbors if they share an edge or a corner point.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K-Nearest Neighbors (KNN-5):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Connects each ward to its 5 closest neighbors.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Why KNN is essential in practice: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It prevents isolated islands from breaking the math, ensuring every single ward has valid neighbors for modeling.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Formula 2: The Spatial Lag Operator [Wy]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Formula &amp; Definition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Spatial Lag of variable y for Ward i is: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[Wy]_i = sum_j ( w*_ij * y_j 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In simple words: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[Wy]_i is the average value of y in the neighborhood around Ward i.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If y is the number of clinics, [Wy]_i tells you whether surrounding wards have many clinics or zero clinics.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Real-World Examples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In Public Health: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Ward i has 0 clinics, but [W*Clinics] = 6.0. Patients can walk to neighboring wards.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Ward i has 0 clinics and [W*Clinics] = 0.0. This is a severe, isolated Healthcare Desert.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In Retail Marketing: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Measuring the average wealth in surrounding wards [W*Wealth] tells a store whether the broader area has strong purchasing power.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Formula 3: Global Moran's I (Testing for Spatial Clustering)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</a:defRPr>
            </a:pPr>
            <a:r>
              <a:t>The Mathematical Formula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 = (n / S_0) * [ sum_i sum_j w_ij (y_i - y_bar)(y_j - y_bar) ] / sum_i (y_i - y_bar)^2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Null Hypothesis (H0):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Values are scattered randomly across the country.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Expected Value if Random: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E[I] = -1 / (n - 1)  (approx 0)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Rules of Interpretation: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I &gt; 0 and p &lt; 0.05: Strong Clustering (High near High, Low near Low).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I &lt; 0 and p &lt; 0.05: Dispersion (Checkerboard pattern).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p &gt;= 0.05: Pure Random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76F51"/>
                </a:solidFill>
              </a:defRPr>
            </a:pPr>
            <a:r>
              <a:t>Results Across 9,308 Nigerian Wards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Wealth Index (RWI):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 = 0.684, z = 112.4, p = 0.001 -&gt; Extreme wealth clustering.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Malaria Prevalence: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 = 0.886, z = 140.5, p = 0.001 -&gt; Intense geographic transmission corridors.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Religious Institutions (Churches):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 = 0.812, z = 138.2, p = 0.001 -&gt; Severe North-South cultural divide.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Conclusion: Random models are completely wrong for Nigeria.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Formula 4: Local Moran's I (LISA) &amp; Hotspot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Local Equation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Global Moran tells us clustering exists. Local Moran tells us WHERE it is.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Formula for Ward i: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I_i = (z_i / s^2) * sum_j ( w_ij * z_j 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where z_i = y_i - y_bar (deviation from national mean).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Each ward gets its own score and statistical test.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Wards are assigned into one of 4 quadrants based on their own value and their neighbors' values.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The 4 Core Quadrants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High-High (Hotspot - Red):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High value surrounded by high neighbors.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Low-Low (Coldspot - Blue):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Low value surrounded by low neighbors.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High-Low (Outlier - Orange):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High value surrounded by low neighbors ('Island of Wealth').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Low-High (Outlier - Light Blue):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Low value surrounded by high neighbors ('Pocket of Poverty').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FINDINGS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National Wealth Clusters: Anselin LISA Map</a:t>
            </a:r>
          </a:p>
        </p:txBody>
      </p:sp>
      <p:pic>
        <p:nvPicPr>
          <p:cNvPr id="5" name="Picture 4" descr="05_moran_and_lis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Sector 1: Public Health &amp; Healthcare Deserts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41148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3749039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The Question &amp; Method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Where are populations trapped with zero primary healthcare facilities?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DATA EXPLORATION: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We cross-referenced gridded population against 35,000+ registered health facilities across 9,308 wards.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SPATIAL STATS ANSWER: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We identified 1,800+ Healthcare Deserts: wards with over 17,000 people and 0 registered clinics.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Over 30 million Nigerians live in these desert wards.</a:t>
            </a:r>
          </a:p>
        </p:txBody>
      </p:sp>
      <p:pic>
        <p:nvPicPr>
          <p:cNvPr id="7" name="Picture 6" descr="01_national_wealth_and_health_des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Sector 2: Disease Epidemiology &amp; Malaria Surveillance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41148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3749039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Question &amp; Method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Does malaria transmission cluster in distinct environmental corridors, and do local clinics buffer against the disease?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SPATIAL STATS ANSWER: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Malaria prevalence exhibits extreme clustering (Moran's I = 0.886, p = 0.001).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Southern mangrove and riverine basins form massive endemic hotspots (PfPR &gt; 40%).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Wards with higher health clinic rates experience significantly lower active parasite rates.</a:t>
            </a:r>
          </a:p>
        </p:txBody>
      </p:sp>
      <p:pic>
        <p:nvPicPr>
          <p:cNvPr id="7" name="Picture 6" descr="07_disease_epidemiology_malari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Sector 3: Geomarketing &amp; Retail Expansion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41148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3749039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76F51"/>
                </a:solidFill>
              </a:defRPr>
            </a:pPr>
            <a:r>
              <a:t>The Question &amp; Method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Where can modern supermarkets, retail chains, and fintechs expand without facing crowded competition?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SPATIAL STATS ANSWER: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We cross-referenced the Relative Wealth Index against physical market density.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Tier 2 Wards (High Wealth, Low Markets) represent prime expansion targets.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These wards have high consumer purchasing power but an absence of formal retail competition.</a:t>
            </a:r>
          </a:p>
        </p:txBody>
      </p:sp>
      <p:pic>
        <p:nvPicPr>
          <p:cNvPr id="7" name="Picture 6" descr="02_commercial_retail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Sector 4: Cultural Geography &amp; Community Cohesion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41148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3749039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The Question &amp; Method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How are faith institutions distributed, and where are the cultural transition zones of high co-presence?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SPATIAL STATS ANSWER: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Churches and mosques sort into a sharp North-South divide (Moran's I = 0.812).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Shannon Entropy Index isolates the Middle Belt (Plateau, Benue, Kaduna South) as intense zones of religious coexistence.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Peacebuilding and vaccination drives must engage dominant faith leaders in each ward.</a:t>
            </a:r>
          </a:p>
        </p:txBody>
      </p:sp>
      <p:pic>
        <p:nvPicPr>
          <p:cNvPr id="7" name="Picture 6" descr="03_religious_cultural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Sector 5: Public Utilities (WASH) &amp; Infrastructure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41148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3749039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Question &amp; Method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How unequal is the distribution of clean water points across Nigeria, and which communities need urgent boreholes?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SPATIAL STATS ANSWER: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Lorenz Curve analysis reveals severe inequality: Gini = 0.72 for clean water points.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Ward Priority Index (WPI) synthesizes water deficit, health deficit, and poverty into 4 Action Tiers.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Directs water boards to drill solar boreholes in Tier 1 Emergency wards first.</a:t>
            </a:r>
          </a:p>
        </p:txBody>
      </p:sp>
      <p:pic>
        <p:nvPicPr>
          <p:cNvPr id="7" name="Picture 6" descr="06_infrastructure_inequality_and_ward_priority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Spatial Econometrics: Why Ordinary Least Squares (OLS) Fails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0429"/>
                </a:solidFill>
              </a:defRPr>
            </a:pPr>
            <a:r>
              <a:t>The Classical OLS Regression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Standard Equation: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y = X*beta + 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OLS assumes errors e are independent: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Cov(e_i, e_j) = 0 for i != j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When geographic units are tested, this assumption breaks down.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Errors cluster spatially: poor wards border poor wards, and wealthy wards border wealthy 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Consequences in Real Life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If Spatial Lag is omitted: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Your beta estimates are BIASED and WRONG.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If Spatial Error is present: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Your standard errors are too small, making you believe a policy or marketing variable works when it actually doesn't (Type-I Error).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We must test OLS residuals using Anselin's Lagrange Multiplier (LM) diagnostics.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The Spatial Lag Model (SAR) &amp; The 2.4x Multiplier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SAR Mathematical Model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Equation: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y = rho * W*y + X*beta + 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rho is the spatial autoregressive coefficient.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W*y is the spatial lag (neighboring wealth/health).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Reduced Form Equation: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y = (I - rho*W)^(-1) * X*beta + (I - rho*W)^(-1) * 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The matrix (I - rho*W)^(-1) is the Spatial Multiplier.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76F51"/>
                </a:solidFill>
              </a:defRPr>
            </a:pPr>
            <a:r>
              <a:t>The 2.4x Multiplier Explained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Our empirical regression on 9,308 wards found: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rho = 0.5842  (p &lt; 0.0001)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Spatial Multiplier: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1 / (1 - rho) = 1 / (1 - 0.5842) = 2.405x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In simple words: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For every 1.0 unit of wealth created in a focal ward by building a market or clinic, an additional 1.405 units spill over into surrounding wards!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This justifies regional joint funding between neighboring LGAs.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The Spatial Error Model (SEM): Unobserved Geographic Shocks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The SEM Mathematical Model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Equation: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y = X*beta + u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where the disturbance u is spatially autocorrelated: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u = lambda * W*u + 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lambda is the spatial error coefficient.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e is classical independent white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When to Use SEM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Use SEM when spatial dependence is not a behavioral spillover, but caused by unobserved geographic factors: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Regional climate and rainfall variations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Soil fertility and topography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Historical state-level policies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Results for Nigeria: lambda = 0.6124 (p &lt; 0.0001). Correcting this error improves model fit by thousands of AIC points.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Comparing Econometric Models Across 9,308 Wards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10332719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Model Performance Summary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MODEL 1: Classical OLS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Pseudo R2 = 0.2841 | Log-Likelihood = -5,812.4 | AIC = 11,636.8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Moran's I on Residuals = 0.421 (p &lt; 0.001) -&gt; Severe residual spatial autocorrelation.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MODEL 2: Spatial Lag Model (SAR)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Pseudo R2 = 0.5318 | Log-Likelihood = -3,941.2 | AIC = 7,896.4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rho = 0.5842 (p &lt; 0.0001) -&gt; Huge improvement; AIC drops by 3,740 points!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MODEL 3: Spatial Error Model (SEM)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Pseudo R2 = 0.5462 | Log-Likelihood = -3,884.6 | AIC = 7,781.2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lambda = 0.6124 (p &lt; 0.0001) -&gt; Optimal specification for structural unobserved spatial shocks.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TAKEAWAY: Spatial models explain almost twice as much variance as classical OLS.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15 Real-World Enterprise &amp; Policy Use Cases (Part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Public Health &amp; Human Capital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1. Disease Surveillance: Isolating malaria and cholera transmission clusters for bed net distribution.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2. Healthcare Facility Siting: Eliminating 1,800+ Healthcare Deserts to protect mothers and infants.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3. Clean Water (WASH): Targeting public boreholes using Lorenz spatial inequality curves.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4. Education Planning: Mapping school dropout risk zones and child density catchments.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Commercial Retail &amp; Fintech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5. Commercial Supermarkets: Siting stores in affluent, under-retailed wards (Tier 2).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6. Fintech POS Agents: Placing cash-in/cash-out agency banking kiosks in unbanked cash corridors.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7. Telecoms 4G/5G Towers: Balancing population density and signal distance decay.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8. Off-Grid Solar Mini-Grids: Identifying affluent un-electrified settlements for private solar power.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15 Real-World Enterprise &amp; Policy Use Cases (Part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76F51"/>
                </a:solidFill>
              </a:defRPr>
            </a:pPr>
            <a:r>
              <a:t>Civic, Safety &amp; Environment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9. Cultural Peacebuilding: Using Shannon Entropy to target inter-religious dialogue in the Middle Belt.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10. Emergency Response: Optimizing fire and police station transit radiuses.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11. Climate Heat Islands: Detecting urban heat stress vs. tree canopy deficits.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12. Agricultural Supply Chains: Locating wholesale grain silos along farm-to-market corridors.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Urban Infrastructure &amp; Governance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13. Real Estate Valuation: Spatial hedonic modeling of neighborhood infrastructure premiums.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14. Transport Corridors: Measuring spatial economic multipliers (2.4x) for road projects.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15. Electoral Logistics: Routing polling units to minimize voter travel distance and lines.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ACTION PLAN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Strategic Summary: How to Use This in Your Organization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Key Rules for Decision-Makers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1. Stop Using Flat Averages: Look at ward-level spatial distributions.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2. Account for Spillovers: Remember that the true return on capital is 2.4x due to neighboring gains.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3. Start with a Question: Formulate a clear hypothesis before running any spatial model.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4. Spatial Stats First: Use spatial lags and spatial CV before applying Machine Learning.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846320" cy="4754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A9D8F"/>
                </a:solidFill>
              </a:defRPr>
            </a:pPr>
            <a:r>
              <a:t>How to Access &amp; Run This Project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Fast Track (5 seconds): Unpack data/processed_data_bundle.zip (9.2 MB) and open any notebook.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Masterclasses Available in notebooks/: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- 00: Master Executive Handbook &amp; Inspector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- 01: Multi-Sector ESDA &amp; Malaria Surveillance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- 02: Spatial Econometrics, SAR/SEM &amp; Multipliers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   - 03: Decision Intelligence Across 15 Use Cases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GitHub: https://github.com/SammyGIS/dsn_advanced_spatial_stats.git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