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ADVANCED SPATIAL STATISTICS &amp; DECISION SCIENCE</a:t>
            </a:r>
          </a:p>
          <a:p>
            <a:pPr>
              <a:spcBef>
                <a:spcPts val="1400"/>
              </a:spcBef>
              <a:defRPr sz="1800">
                <a:solidFill>
                  <a:srgbClr val="2A9D8F"/>
                </a:solidFill>
              </a:defRPr>
            </a:pPr>
            <a:r>
              <a:t>How Location Data and Spatial Models Drive Smarter Decisions Across Every Sector</a:t>
            </a:r>
          </a:p>
          <a:p>
            <a:pPr>
              <a:spcBef>
                <a:spcPts val="2000"/>
              </a:spcBef>
              <a:defRPr sz="1300">
                <a:solidFill>
                  <a:srgbClr val="CDD3D8"/>
                </a:solidFill>
              </a:defRPr>
            </a:pPr>
            <a:r>
              <a:t>Disease Epidemiology | Health Deserts | Geomarketing | Cultural Geography | WASH | Electoral Logistics | Econometrics</a:t>
            </a:r>
            <a:br/>
            <a:r>
              <a:t>9,308 Nigerian Wards  |  PySAL | GeoPandas | spreg | esda | splot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CORE FOUNDATIONS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The Big Idea: Why Traditional Statistics Fails in the Real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0429"/>
                </a:solidFill>
              </a:defRPr>
            </a:pPr>
            <a:r>
              <a:t>The Fallacy of the Average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Traditional analytics uses state or national averages.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A state can look healthy on paper while having hundreds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of wards with ZERO clinics.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Decisions based on averages waste money.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Location dictates who has access and who is left behind.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9D8F"/>
                </a:solidFill>
              </a:defRPr>
            </a:pPr>
            <a:r>
              <a:t>Tobler's First Law of Geography (1970)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'Near things are more related than distant things.'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Events in one ward do not stay in that ward.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Malaria mosquitoes fly across borders.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Shoppers travel to neighbouring markets.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Invest in Ward A -&gt; Wards B, C, D also benefit.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This cross-ward effect is called a SPATIAL SPILLOVER.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CORE COMPARISON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Spatial Statistics vs. Traditional Statistics — Head-to-Head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0429"/>
                </a:solidFill>
              </a:defRPr>
            </a:pPr>
            <a:r>
              <a:t>Traditional Statistics — What It Misses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Assumes obs. are Independent &amp; Identically Distributed (i.i.d.).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Correlation: Pearson/Spearman — treats each ward as an isolated island.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Regression (OLS): y = XB + e — assumes Cov(ei,ej) = 0.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Outlier: Global z-score only (&gt; 3 std devs from national mean).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Multiplier: 1.0x — investment impacts only the targeted area.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BLIND to: clustering, spillovers, and boundary effects.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9D8F"/>
                </a:solidFill>
              </a:defRPr>
            </a:pPr>
            <a:r>
              <a:t>Advanced Spatial Statistics — What It Adds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Foundation: Tobler's Law — neighbouring units are coupled.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Correlation: Moran's I accounts for geographic distance &amp; contiguity.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Regression: Spatial Lag (SAR) and Spatial Error (SEM) models.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Outlier: Anselin LISA — finds local High-Low and Low-High pockets.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Multiplier: 2.4x — explicitly measures cross-ward investment returns.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UNLOCKS: unbiased estimates, real significance, surgical targeting.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CLARIFICATION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Spatial Statistics vs. Spatial Data Science — They Are NOT the Same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3557"/>
                </a:solidFill>
              </a:defRPr>
            </a:pPr>
            <a:r>
              <a:t>Spatial Statistics (Mathematics + Inference)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A branch of MATHEMATICS and INFERENTIAL STATISTICS.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The question it answers: Is this pattern REAL or due to chance?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Core tools: Moran's I, LISA, SAR, SEM, Lagrange Multiplier tests.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Output: p-values, confidence intervals, causal multipliers.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Use when: You need to TEST a hypothesis and PROVE a result.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Example: Prove malaria clusters in riverine wards (I=0.886, p&lt;0.001).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9D8F"/>
                </a:solidFill>
              </a:defRPr>
            </a:pPr>
            <a:r>
              <a:t>Spatial Data Science (Engineering + Analytics)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A broader ENGINEERING and ANALYTICS field.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The question it answers: How do we store, process, visualise, predict?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Core tools: GeoPandas, PostGIS, QGIS, Kepler.gl, Folium, Deck.gl.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Output: Maps, dashboards, ML predictions, ETL pipelines.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Use when: You need to PROCESS and DISPLAY spatial info at scale.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Example: Build an interactive ward-level map for 9,308 wards.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-&gt; Spatial statistics POWERS spatial data science from the inside.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EXPLORATORY ANALYSIS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The Superpower of Spatial Statistics: Pattern Discovery via ESDA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0429"/>
                </a:solidFill>
              </a:defRPr>
            </a:pPr>
            <a:r>
              <a:t>Why Traditional EDA is Blind to Geography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Traditional EDA relies on histograms, means, and boxplots.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Coordinates and topologies are completely discarded.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Random Shuffle Test: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Randomly shuffle 9,308 ward locations across Nigeria.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The histogram, mean, and std dev remain 100% IDENTICAL.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Standard EDA cannot tell whether poverty is clustered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or randomly scattered across the country.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Global Outlier Blindness: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Only detects national extremes (z &gt; 3). Completely misses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wealthy commercial islands embedded in poor regions.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9D8F"/>
                </a:solidFill>
              </a:defRPr>
            </a:pPr>
            <a:r>
              <a:t>What ESDA Unlocks: Seeing Real Patterns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1. Hypothesis-Free Pattern Discovery: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 Reveals spatial regimes and natural clustering before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 formulating complex equations.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2. Rigorous Statistical Clustering (Moran's I):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 Proves map patterns are genuine, not visual noise (p &lt; 0.001).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3. Local Spatial Outliers (Anselin LISA):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 Pinpoints High-Low 'Islands of Wealth' (commercial hubs)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 and Low-High 'Pockets of Poverty' (underserved sinks).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4. Spatial Heterogeneity: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 Identifies where relationships invert across state borders.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CORE ADVANTAGES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The 4 Strategic Advantages of Spatial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514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3557"/>
                </a:solidFill>
              </a:defRPr>
            </a:pPr>
            <a:r>
              <a:t>1. Bias Elimination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Prevents Omitted Variable Bias.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Spatial spillovers hide in OLS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error terms — distorting B.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Spatial models isolate genuine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policy effects from geography.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188720"/>
            <a:ext cx="2514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9D8F"/>
                </a:solidFill>
              </a:defRPr>
            </a:pPr>
            <a:r>
              <a:t>2. True Significance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Stops Type-I Errors.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Non-spatial models produce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deflated standard errors and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inflated t-statistics.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Spatial models prove whether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an effect is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2514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76F51"/>
                </a:solidFill>
              </a:defRPr>
            </a:pPr>
            <a:r>
              <a:t>3. Surgical Targeting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Bypasses crude quotas.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LISA isolates the exact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1,800+ desert wards instead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of splitting budgets equally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across 774 LGAs.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Zero wasted capital.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188720"/>
            <a:ext cx="2514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0429"/>
                </a:solidFill>
              </a:defRPr>
            </a:pPr>
            <a:r>
              <a:t>4. Quantified Spillovers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Unlocks the 2.4x Multiplier.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$1M in Ward A creates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$1.4M of indirect activity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in contiguous wards.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Justifies regional joint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funding between LGAs.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METHODOLOGY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Why Spatial Statistics Must Come BEFORE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0429"/>
                </a:solidFill>
              </a:defRPr>
            </a:pPr>
            <a:r>
              <a:t>The Trap: Spatial Data Leakage in ML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XGBoost/Random Forest with random train/test splits on spatial data CHEATS.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Test points neighbour training points -&gt; 95% accuracy in tests,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total failure when deployed in a new region.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Tree models cannot model continuous distance decay.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Off-the-shelf ML cannot give causal policy multipliers.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9D8F"/>
                </a:solidFill>
              </a:defRPr>
            </a:pPr>
            <a:r>
              <a:t>The Solution: Spatial Stats First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1. Feature Engineering: Compute spatial lags [Wy] before training ML.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2. Block Cross-Validation: Split by geographic clusters to prevent leakage.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3. LM Tests: Confirm whether spatial dependence exists first.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4. SAR/SEM: Give causal multipliers that ML cannot produce.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Spatial statistics is the FOUNDATION that makes ML valid and honest.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PIPELINE ARCHITECTURE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The End-to-End Decision Pipeline: From Raw Data to Actions</a:t>
            </a:r>
          </a:p>
        </p:txBody>
      </p:sp>
      <p:pic>
        <p:nvPicPr>
          <p:cNvPr id="5" name="Picture 4" descr="00_architecture_and_methodology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LIBRARIES REFERENCE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The Full Python Toolkit for Spatial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3474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3557"/>
                </a:solidFill>
              </a:defRPr>
            </a:pPr>
            <a:r>
              <a:t>Core Spatial Statistics — PySAL Family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libpysal — Build spatial weights W (Queen, Rook, KNN, distance bands).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esda     — Global Moran's I, LISA, Join-Count, Geary's C.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spreg    — OLS, SAR (GM_Lag), SEM (GM_Error), LM diagnostic tests.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giddy    — Spatial Markov chains; regional convergence analysis.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splot    — Moran scatter plots &amp; LISA cluster maps.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segregation — Spatial segregation indices for cities.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mgwr     — Multi-scale Geographically Weighted Regression.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inequality  — Theil &amp; spatial inequality decomposition.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188720"/>
            <a:ext cx="3474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9D8F"/>
                </a:solidFill>
              </a:defRPr>
            </a:pPr>
            <a:r>
              <a:t>Geometry, I/O &amp; Visualisation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GeoPandas  — Shapefiles, GeoJSON, Parquet I/O; spatial joins.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Shapely    — Geometry ops: buffer, intersect, union, centroid.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Fiona      — Low-level vector I/O (used inside GeoPandas).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PyProj     — CRS transformations between EPSG projections.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Folium     — Interactive Leaflet maps in Jupyter notebooks.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Kepler.gl  — GPU-accelerated large-scale maps in browser.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Contextily — Automatic basemap tiles (OpenStreetMap, CARTO).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mapclassify — Natural Breaks, Quantile, Fisher class schemes.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188720"/>
            <a:ext cx="3383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76F51"/>
                </a:solidFill>
              </a:defRPr>
            </a:pPr>
            <a:r>
              <a:t>Raster, ETL &amp; Network Analysis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Rasterio     — Read/write GeoTIFF rasters; window reads.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rasterstats  — Fast zonal_stats for ward-level raster aggregation.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xarray       — N-dimensional labelled raster arrays.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rioxarray    — CRS-aware xarray extension for rasters.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spatialpandas — Dask-scalable spatial partitioning.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OSMnx        — Download &amp; analyse OpenStreetMap road networks.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NetworkX     — Graph algorithms for transport connectivity.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scikit-mobility — Human mobility and flow modelling.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MATHEMATICAL TOOLS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Formula 1: The Spatial Weights Matrix (W)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12529"/>
                </a:solidFill>
              </a:defRPr>
            </a:pPr>
            <a:r>
              <a:t>How We Connect Geography Mathematically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Adjacency:  wij = 1  if Ward i and Ward j share a boundary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          wij = 0  otherwise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Row-Standardisation:  w*ij = wij / sum_k(wik)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This makes each row sum to 1.0.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A ward with 10 neighbours is on the same scale as one with 3.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Result: a weighted local average — the SPATIAL LAG.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9D8F"/>
                </a:solidFill>
              </a:defRPr>
            </a:pPr>
            <a:r>
              <a:t>Types of Adjacency in Practice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Queen Contiguity (Default):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Neighbours share an edge OR a corner point.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Rook Contiguity: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Neighbours must share a full linear boundary edge.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K-Nearest Neighbours (KNN-5):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Connects each ward to its 5 closest centroids.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Ensures every isolated island still has valid neighbours.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Distance-Decay:  wij = d^(-alpha)  (weight drops with distance).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MATHEMATICAL TOOLS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Formula 2: The Spatial Lag Operator [Wy] — Intuition &amp; 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3557"/>
                </a:solidFill>
              </a:defRPr>
            </a:pPr>
            <a:r>
              <a:t>What Is a Spatial Lag &amp; Why Is It Called 'Lag'?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Definition: [Wy]_i = sum_j ( w*_ij * y_j )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Why 'Lag'?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In Time Series, y_{t-1} is the TIME LAG (what happened in the past).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In Spatial Stats, [Wy]_i is the SPATIAL LAG (what happens in the neighbourhood).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It transforms an entire geographic neighborhood into a single scalar value.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Step-by-Step Numerical Walkthrough: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Suppose Ward A has 3 contiguous neighbours: B, C, and D.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Neighbour Wealth: B = 2.0,  C = 4.0,  D = 6.0.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Row-Standardised Weights: w*_AB = 1/3, w*_AC = 1/3, w*_AD = 1/3.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Spatial Lag: [Wy]_A = (1/3)(2.0) + (1/3)(4.0) + (1/3)(6.0) = 4.0.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Core Insight: [Wy] captures your local geographic context in a single number.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9D8F"/>
                </a:solidFill>
              </a:defRPr>
            </a:pPr>
            <a:r>
              <a:t>How Spatial Lag Powers Real Decisions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Public Health — Isolation vs. Buffer Access: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Ward A: 0 clinics, [W*Clinics]=5.2 -&gt; Low risk; patients walk to clinics next door.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Ward B: 0 clinics, [W*Clinics]=0.0 -&gt; Extreme Desert! Zero nearby access. Prioritise.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Commercial Geomarketing — Catchment Purchasing Power: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Ward i: Moderate wealth, but [W*Wealth]=High -&gt; Entire trade area is affluent.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A supermarket here captures high revenue from contiguous feeder wards.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Epidemiology — Transmission Pressure: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[W*MalariaPrevalence]_i measures infection pressure entering Ward i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from its surrounding geographic vectors.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ECONOMETRIC THEORY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Spatial Lag vs. Spatial Error — The Fundamental Distinction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3557"/>
                </a:solidFill>
              </a:defRPr>
            </a:pPr>
            <a:r>
              <a:t>Spatial Lag (SAR): Endogenous Spillovers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Model: y = rho * W * y + X * beta + epsilon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The Mechanism: BEHAVIORAL SPILLOVER &amp; INTERACTION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'What my neighbours do DIRECTLY affects what I do.'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Real-World Examples: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- Economic Growth: A new market in Ward A creates jobs, boosting retail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  spending in adjacent Ward B (Economic multiplier effect).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- Epidemic Spread: Cholera in Ward A physically infects people in Ward B.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- Retail Pricing: Stores in Ward A react to competitors in Ward B.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Diagnostic: Significant rho means investments produce geographic feedback loops.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Calculated Multiplier = 1 / (1 - rho). If rho = 0.584, Multiplier = 2.4x.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76F51"/>
                </a:solidFill>
              </a:defRPr>
            </a:pPr>
            <a:r>
              <a:t>Spatial Error (SEM): Shared Unobserved Environment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Model: y = X * beta + u,   where u = lambda * W * u + epsilon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The Mechanism: SHARED BACKGROUND / OMITTED COVARIATES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'My neighbours and I share common unmeasured conditions.'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Real-World Examples: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- Climate / Ecology: A shared river basin or rainfall belt affects crop yields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  across all contiguous wards identically.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- State Governance: Shared administrative policies or road network quality.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- Geological Terrain: Shared mineral resources or aquifer depth.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Decision Rule (Anselin Lagrange Multiplier):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Run OLS -&gt; Test LM-Lag and LM-Error.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If LM-Lag is significant -&gt; Run SAR (spillover dynamic).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If LM-Error is significant -&gt; Run SEM (shared environment).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MATHEMATICAL TOOLS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Formula 3: Global Moran's I — Is There Clustering?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12529"/>
                </a:solidFill>
              </a:defRPr>
            </a:pPr>
            <a:r>
              <a:t>The Mathematical Formula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I = (n/S0) * [sum_i sum_j wij(yi-ybar)(yj-ybar)] / sum_i(yi-ybar)^2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H0 (Null): Values are scattered randomly across the country.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E[I] if random = -1/(n-1)  approx 0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Interpretation: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I &gt; 0 and p &lt; 0.05 -&gt; Clustering (High near High, Low near Low).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I &lt; 0 and p &lt; 0.05 -&gt; Dispersion (checkerboard pattern).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p &gt;= 0.05          -&gt; Pure random noise.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76F51"/>
                </a:solidFill>
              </a:defRPr>
            </a:pPr>
            <a:r>
              <a:t>Results Across 9,308 Nigerian Wards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Wealth Index (RWI):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I = 0.684, z = 112.4, p = 0.001 -&gt; Extreme wealth clustering.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Malaria Prevalence (PfPR):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I = 0.886, z = 140.5, p = 0.001 -&gt; Intense transmission corridors.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Religious Institutions (Churches):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I = 0.812, z = 138.2, p = 0.001 -&gt; Sharp North-South cultural divide.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CONCLUSION: Random models are completely wrong for Nigeria.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MATHEMATICAL TOOLS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Formula 4: Local Moran's I (LISA) — WHERE Is the Cluster?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3557"/>
                </a:solidFill>
              </a:defRPr>
            </a:pPr>
            <a:r>
              <a:t>The Local Formula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Global Moran tells us clustering EXISTS.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LISA tells us WHERE — per ward.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I_i = (z_i / s^2) * sum_j ( w_ij * z_j )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where z_i = y_i - y_bar  (deviation from national mean).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Each ward gets its own score and its own p-value.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Wards are classified into 4 quadrants.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0429"/>
                </a:solidFill>
              </a:defRPr>
            </a:pPr>
            <a:r>
              <a:t>The 4 LISA Quadrants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High-High (HH) — Red HOTSPOT: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High value surrounded by high neighbours.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Action: Deepen the advantage; build on existing momentum.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Low-Low (LL) — Blue COLDSPOT: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Low value surrounded by low neighbours. Hardest-to-reach.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Action: Emergency intervention; prioritise in WPI Tier 1.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High-Low (HL) — Orange ISLAND: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High value surrounded by low neighbours ('Island of Wealth').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Low-High (LH) — Light Blue POCKET: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Low value surrounded by high neighbours ('Pocket of Poverty').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EMPIRICAL FINDINGS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National Wealth Clusters: Anselin LISA Map</a:t>
            </a:r>
          </a:p>
        </p:txBody>
      </p:sp>
      <p:pic>
        <p:nvPicPr>
          <p:cNvPr id="5" name="Picture 4" descr="05_moran_and_lisa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SECTOR ANALYSIS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Sector 1: Public Health &amp; Healthcare Deserts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0429"/>
                </a:solidFill>
              </a:defRPr>
            </a:pPr>
            <a:r>
              <a:t>Question, Method &amp; Answer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THE QUESTION: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Where are populations trapped with zero primary healthcare?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SPATIAL METHOD: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Spatial Join (population raster x facility points)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+ Anselin LISA to classify wards into HH / LL clusters.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WHAT THE METHOD DOES: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Cross-references 35,000+ health facilities against 9,308 ward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populations. Flags every ward where clinics_per_10k = 0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AND population &gt; 17,000 people.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THE ANSWER: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1,800+ Healthcare Desert wards found.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Over 30 million Nigerians live in these wards.</a:t>
            </a:r>
          </a:p>
        </p:txBody>
      </p:sp>
      <p:pic>
        <p:nvPicPr>
          <p:cNvPr id="6" name="Picture 5" descr="01_national_wealth_and_health_des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6400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SECTOR ANALYSIS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Sector 2: Disease Epidemiology &amp; Malaria Surveillance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3557"/>
                </a:solidFill>
              </a:defRPr>
            </a:pPr>
            <a:r>
              <a:t>Question, Method &amp; Answer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THE QUESTION: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Does malaria cluster in environmental corridors?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Do local clinics protect against transmission?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SPATIAL METHOD: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Global Moran's I + LISA hotspot mapping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+ SAR regression with clinic_rate as a regressor.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WHAT THE METHOD DOES: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Tests whether malaria in a ward correlates with malaria in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its neighbours. SAR quantifies how strongly the spatial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neighbourhood — not just local conditions — drives transmission.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THE ANSWER: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I = 0.886, p = 0.001. Riverine wards: PfPR &gt; 40%.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Higher clinic rates show significantly lower parasite rates.</a:t>
            </a:r>
          </a:p>
        </p:txBody>
      </p:sp>
      <p:pic>
        <p:nvPicPr>
          <p:cNvPr id="6" name="Picture 5" descr="07_disease_epidemiology_malaria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6400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SECTOR ANALYSIS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Sector 3: Geomarketing &amp; Retail Expansion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76F51"/>
                </a:solidFill>
              </a:defRPr>
            </a:pPr>
            <a:r>
              <a:t>Question, Method &amp; Answer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THE QUESTION: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Where can supermarkets, retail chains, and fintechs expand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without facing crowded competition?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SPATIAL METHOD: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Bivariate Moran's I (Wealth vs Market Density)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+ LISA quadrant classification.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WHAT THE METHOD DOES: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Compares each ward's RWI (wealth) with its neighbours' market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density. LH quadrant = affluent ward with low-market surrounding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-&gt; PRIME EXPANSION TARGET (Tier 2).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THE ANSWER: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Tier 2 wards: high consumer purchasing power, no formal retail.</a:t>
            </a:r>
          </a:p>
        </p:txBody>
      </p:sp>
      <p:pic>
        <p:nvPicPr>
          <p:cNvPr id="6" name="Picture 5" descr="02_commercial_retail_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6400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SECTOR ANALYSIS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Sector 4: Cultural Geography &amp; Community Cohesion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9D8F"/>
                </a:solidFill>
              </a:defRPr>
            </a:pPr>
            <a:r>
              <a:t>Question, Method &amp; Answer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THE QUESTION: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How are faith institutions distributed? Where are the cultural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transition zones of high co-presence?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SPATIAL METHOD: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Global Moran's I per faith type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+ Shannon Entropy Index (ward-level diversity score).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WHAT THE METHOD DOES: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Moran's I proves churches and mosques sort spatially.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Shannon Entropy scores each ward: H=1.0 (equal mix) to H=0 (one faith).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THE ANSWER: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Sharp North-South divide (I = 0.812).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Middle Belt = high-entropy zones needing inter-faith programs.</a:t>
            </a:r>
          </a:p>
        </p:txBody>
      </p:sp>
      <p:pic>
        <p:nvPicPr>
          <p:cNvPr id="6" name="Picture 5" descr="03_religious_cultural_geograp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6400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SECTOR ANALYSIS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Sector 5: WASH &amp; Clean Water Infrastructure Equity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3557"/>
                </a:solidFill>
              </a:defRPr>
            </a:pPr>
            <a:r>
              <a:t>Question, Method &amp; Answer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THE QUESTION: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How unequal is clean water distribution?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Which wards urgently need solar boreholes?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SPATIAL METHOD: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Spatial Lorenz Curve + Gini Coefficient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+ Ward Priority Index (WPI) composite scoring.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WHAT THE METHOD DOES: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The Lorenz Curve ranks all 9,308 wards by borehole count.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WPI = weighted sum of (water deficit + health deficit + poverty).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Creates 4 Action Tiers so water boards drill highest-need first.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THE ANSWER: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Gini = 0.72. WPI Tier 1 = emergency solar borehole intervention.</a:t>
            </a:r>
          </a:p>
        </p:txBody>
      </p:sp>
      <p:pic>
        <p:nvPicPr>
          <p:cNvPr id="6" name="Picture 5" descr="06_infrastructure_inequality_and_ward_priority_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6400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DIAGNOSTIC TESTING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Pre-Modeling Diagnostics: Multicollinearity &amp; Variance Inflation Factor (VIF)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3557"/>
                </a:solidFill>
              </a:defRPr>
            </a:pPr>
            <a:r>
              <a:t>What Is Multicollinearity &amp; Why Does It Break Models?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Definition: When two or more explanatory variables (X) are highly correlated.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The Danger to Decision-Making: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- Explodes the variance and standard errors of your estimates.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- Makes regression coefficients unstable or flip signs (e.g., clinics look harmful!).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- Produces false insignificance (p-values look non-significant).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The VIF Mathematical Formulation: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VIF_k = 1 / (1 - R_k^2)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where R_k^2 is the R-squared from regressing predictor X_k on all other predictors.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Intuition: If other variables explain 90% of X_k (R_k^2 = 0.90),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then 1 - R_k^2 = 0.10  -&gt;  VIF = 10.0 (Variance inflated 10 times!).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9D8F"/>
                </a:solidFill>
              </a:defRPr>
            </a:pPr>
            <a:r>
              <a:t>Decision Rules &amp; Empirical Results on 9,308 Wards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Standard Thresholds in Practice: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VIF = 1.0       -&gt; Perfectly orthogonal (zero collinearity).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1.0 &lt; VIF &lt; 5.0 -&gt; Low / Acceptable collinearity (Clean to proceed).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5.0 &lt;= VIF &lt; 10 -&gt; Moderate collinearity (Requires caution).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VIF &gt;= 10.0     -&gt; Severe collinearity (Must drop or combine features).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Why Mandatory Before Spatial Econometrics (SAR / SEM):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Adding spatial lags (Wy) to collinear data makes it impossible to distinguish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local covariate effects from geographic spillover multipliers.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Our Empirical Results on Nigeria's 9,308 Wards: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- Health Facility Rate: VIF = 1.24  (Clean)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- Commercial Market Rate: VIF = 1.45  (Clean)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- Clean Water Access Rate: VIF = 1.18  (Clean)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- Log Population Density: VIF = 1.82  (Clean)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Conclusion: All VIF &lt; 2.0 -&gt; Zero risk of multicollinearity!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ECONOMETRIC THEORY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Spatial Econometrics: Why OLS Fails on Geographic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0429"/>
                </a:solidFill>
              </a:defRPr>
            </a:pPr>
            <a:r>
              <a:t>The Classical OLS Regression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Standard Equation:  y = XB + e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OLS assumes:  Cov(ei, ej) = 0  for i != j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When geographic units are used, this breaks down.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Poor wards border poor wards; wealthy wards border wealthy wards.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The error term e absorbs spatial spillovers -&gt; B is BIASED.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Moran's I on OLS residuals = 0.421 (p &lt; 0.001)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-&gt; Proof OLS violates its own assumptions on Nigerian ward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3557"/>
                </a:solidFill>
              </a:defRPr>
            </a:pPr>
            <a:r>
              <a:t>Real-Life Consequences &amp; The Fix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If Spatial Lag is omitted: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B estimates are BIASED — policy inferences are wrong.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If Spatial Error is present: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Standard errors shrink -&gt; false positives multiply.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You believe a policy works when it actually does not.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The Fix — Run Anselin's LM Diagnostic Tests: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LM-Lag &gt; LM-Error -&gt; use SAR (spreg.GM_Lag)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LM-Error &gt; LM-Lag -&gt; use SEM (spreg.GM_Error)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ECONOMETRIC THEORY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The Spatial Lag Model (SAR) &amp; The 2.4x Investment Multiplier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3557"/>
                </a:solidFill>
              </a:defRPr>
            </a:pPr>
            <a:r>
              <a:t>The SAR Equation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y = rho * Wy + XB + e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rho = spatial autoregressive coefficient (how contagious the outcome is).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Wy  = spatial lag (average outcome in neighbouring wards).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Reduced Form: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y = (I - rho*W)^(-1) * XB + (I - rho*W)^(-1) * e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The matrix (I - rho*W)^(-1) is the SPATIAL MULTIPLIER.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It captures ALL rounds of cross-boundary feedback.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76F51"/>
                </a:solidFill>
              </a:defRPr>
            </a:pPr>
            <a:r>
              <a:t>The 2.4x Result on 9,308 Wards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Empirical regression found: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rho = 0.5842  (p &lt; 0.0001)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Spatial Multiplier:  1 / (1 - 0.5842) = 2.405x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Plain words: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For every 1.0 unit of wealth created in a focal ward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(opening a market, clinic, or school), an additional 1.405 units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SPILL OVER into surrounding wards automatically.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This justifies JOINT regional funding between neighbouring LGAs.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ECONOMETRIC THEORY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The Spatial Error Model (SEM): Shared Geography, Not Spillovers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3557"/>
                </a:solidFill>
              </a:defRPr>
            </a:pPr>
            <a:r>
              <a:t>The SEM Equation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y = XB + u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u = lambda * Wu + e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lambda = spatial error coefficient.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e      = classical independent white noise.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SEM says: the SAME hidden geographic factors hit neighbouring wards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simultaneously — rainfall, soil type, colonial infrastructure legacy.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This is NOT a behavioural spillover. It is shared environment.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9D8F"/>
                </a:solidFill>
              </a:defRPr>
            </a:pPr>
            <a:r>
              <a:t>When to Use SEM vs SAR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Use SEM when dependence is UNOBSERVED GEOGRAPHY: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Regional climate and rainfall patterns.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Soil fertility and topography.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Historical state-level investment policies.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Use SAR when dependence is BEHAVIOURAL SPILLOVER: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Markets, trade, and consumer travel.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Disease cross-border transmission.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Investment generating secondary economic activity.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Nigeria: lambda = 0.6124 (p &lt; 0.0001). AIC improves 3,740 pts.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EMPIRICAL RESULTS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Comparing OLS vs. SAR vs. SEM Across 9,308 Wards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3557"/>
                </a:solidFill>
              </a:defRPr>
            </a:pPr>
            <a:r>
              <a:t>Model Performance Summary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MODEL 1 — Classical OLS:  y = XB + e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Pseudo R2 = 0.2841 | Log-Likelihood = -5,812.4 | AIC = 11,636.8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Moran's I on Residuals = 0.421 (p &lt; 0.001) -&gt; Severe autocorrelation.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MODEL 2 — Spatial Lag Model (SAR):  y = rho*Wy + XB + e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Pseudo R2 = 0.5318 | Log-Likelihood = -3,941.2 | AIC = 7,896.4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rho = 0.5842 (p &lt; 0.0001). AIC drops 3,740 points vs OLS.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MODEL 3 — Spatial Error Model (SEM):  y = XB + lambda*Wu + e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Pseudo R2 = 0.5462 | Log-Likelihood = -3,884.6 | AIC = 7,781.2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lambda = 0.6124 (p &lt; 0.0001). Best fit for structural geographic shocks.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KEY TAKEAWAY: Spatial models explain TWICE the variance of classical OLS.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TAXONOMY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15 Enterprise Use Cases — Part 1: Health &amp; Commercial (UC 1-8)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3557"/>
                </a:solidFill>
              </a:defRPr>
            </a:pPr>
            <a:r>
              <a:t>Public Health &amp; Human Capital (UC 1-4)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UC1 — Disease Surveillance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Method: Moran's I + LISA.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Example: Flag 312 high-malaria wards in Niger Delta for bed-net campaigns.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UC2 — Healthcare Facility Siting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Method: Spatial Join + LISA LL coldspot classification.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Example: LISA flags 1,800 wards with 0 clinics and 17k+ people.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UC3 — WASH Borehole Targeting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Method: Lorenz Curve + Ward Priority Index (WPI).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Example: Tier 1 wards receive solar boreholes based on WPI composite score.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UC4 — School Dropout Risk Mapping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Method: SAR regression (school proximity x poverty spatial lag).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Example: Ward-level dropout risk score used by UBEC for planning.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9D8F"/>
                </a:solidFill>
              </a:defRPr>
            </a:pPr>
            <a:r>
              <a:t>Commercial Retail &amp; Fintech (UC 5-8)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UC5 — Supermarket Siting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Method: Bivariate LISA (Wealth HH x Market Density LL).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Example: Tier 2 LH wards = affluent area with no formal retail.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UC6 — Fintech POS Agent Network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Method: KDE + service-area gap analysis.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Example: Place cash-in/cash-out kiosks in unbanked corridors.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UC7 — Telecoms 4G/5G Tower Siting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Method: Distance-decay weights + population density ranking.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Example: Balance signal coverage radius against population demand.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UC8 — Off-Grid Solar Mini-Grid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Method: Spatial filter (wealth &gt; threshold AND grid_access = 0).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Example: Identify affluent un-electrified settlements for private solar.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TAXONOMY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15 Enterprise Use Cases — Part 2: Civic, Urban &amp; Governance (UC 9-15)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76F51"/>
                </a:solidFill>
              </a:defRPr>
            </a:pPr>
            <a:r>
              <a:t>Civic, Safety &amp; Environment (UC 9-12)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UC9 — Cultural Peacebuilding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Method: Shannon Entropy Index + spatial smoothing.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Example: High-entropy wards in Plateau State targeted for NIPSS programs.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UC10 — Emergency Response Stations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Method: Network analysis + p-median location model (OSMnx).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Example: Minimise average ambulance response time across all wards.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UC11 — Urban Heat Island Detection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Method: SAR regression (LST raster x tree canopy deficit).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Example: Identify wards needing urgent urban forestry programs.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UC12 — Agricultural Supply Chains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Method: Spatial flow analysis (farm-to-market travel cost surface).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Example: Locate grain silos to minimise aggregate transport cost.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3557"/>
                </a:solidFill>
              </a:defRPr>
            </a:pPr>
            <a:r>
              <a:t>Urban Infrastructure &amp; Governance (UC 13-15)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UC13 — Real Estate Hedonic Valuation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Method: SAR regression with infrastructure variables.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Example: Clinic proximity adds N2.3M to ward median house price.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UC14 — Road &amp; Transport Investment ROI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Method: SAR Spatial Multiplier (2.4x).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Example: N5B road in Ogun creates N12B regional economic value.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UC15 — Electoral Logistics (Polling Units)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Method: K-means clustering + 2km Euclidean buffer + LISA.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Example: Re-cluster 176,846 INEC polling units; flag wards where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  voter travel &gt; 2km as ACCESS GAPS needing new polling units.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SECTOR ANALYSIS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Use Case 15 Deep Dive: Electoral Logistics &amp; Polling Unit Optimisation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0429"/>
                </a:solidFill>
              </a:defRPr>
            </a:pPr>
            <a:r>
              <a:t>The Question &amp; Data Sources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THE QUESTION: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Are all Nigerian voters within walking distance (&lt;=2km) of a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polling unit? Which wards have unacceptable access gaps?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DATA SOURCES: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INEC Polling Units (176,846 locations):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-&gt; https://irev.inecnigeria.org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-&gt; https://africaopendata.org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GRID3 Nigeria Ward Boundaries: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-&gt; https://grid3.gov.ng/datasets/nigeria/administrative-boundaries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WorldPop population raster for voter density weighting: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-&gt; https://hub.worldpop.org/geodata/listing?id=29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3557"/>
                </a:solidFill>
              </a:defRPr>
            </a:pPr>
            <a:r>
              <a:t>The Spatial Method &amp; Decision Output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SPATIAL METHOD (Step by Step):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1. Point-in-polygon join: assign each polling unit to its ward.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2. Compute PU density per ward (PUs per 10,000 registered voters).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3. Compute 2km Euclidean buffer around each polling unit.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4. Overlay population raster: count uncovered residents per ward.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5. Moran's I on PU density: test for spatial access inequality.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6. LISA LL coldspots: most geographically isolated wards.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ACTIONABLE DECISION: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1. Open new polling units in access-gap wards.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2. Re-assign existing PUs to reduce travel time.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3. Prioritise mobile-polling trucks in LL coldspot wards.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REFERENCES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Data Sources &amp; Key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3557"/>
                </a:solidFill>
              </a:defRPr>
            </a:pPr>
            <a:r>
              <a:t>Primary Data Sources (with URLs)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Ward Boundaries (GRID3 Nigeria):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https://grid3.gov.ng/datasets/nigeria/administrative-boundaries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Relative Wealth Index (Meta AI Research):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https://data.humdata.org/dataset/relative-wealth-index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WorldPop Gridded Population (100m):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https://hub.worldpop.org/geodata/listing?id=29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Malaria Atlas Project (PfPR rasters):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https://malariaatlas.org/explorer/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GRID3 POI Registries (Clinics, Schools, Markets):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https://grid3.gov.ng/datasets/nigeria/health-facilities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INEC Polling Units: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https://irev.inecnigeria.org  |  https://africaopendata.org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OpenStreetMap Nigeria road network: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https://download.geofabrik.de/africa/nigeria.html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9D8F"/>
                </a:solidFill>
              </a:defRPr>
            </a:pPr>
            <a:r>
              <a:t>Key Academic &amp; Library References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Anselin, L. (1988). Spatial Econometrics. Kluwer Academic.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Tobler, W. (1970). A computer movie. Economic Geography.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PySAL:          https://pysal.org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esda:           https://pysal.org/esda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spreg:          https://pysal.org/spreg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libpysal:       https://pysal.org/libpysal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GeoPandas:      https://geopandas.org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Rasterio:       https://rasterio.readthedocs.io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OSMnx:          https://osmnx.readthedocs.io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Folium:         https://python-visualization.github.io/folium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Contextily:     https://contextily.readthedocs.io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This project:   https://github.com/SammyGIS/dsn_advanced_spatial_stats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</a:defRPr>
            </a:pPr>
            <a:r>
              <a:t>ACTION PLAN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Strategic Summary: How to Use This in Your Organisation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3557"/>
                </a:solidFill>
              </a:defRPr>
            </a:pPr>
            <a:r>
              <a:t>Key Rules for Decision-Makers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1. Stop Using Flat Averages — look at ward-level spatial distributions.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2. Account for Spillovers — true return on capital is 2.4x due to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 neighbouring gains.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3. Start with a Question — formulate a clear hypothesis before running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 any spatial model.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4. Spatial Stats First — compute spatial lags and spatial CV before ML.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5. Right Library for the Job: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 PySAL/esda for stats, spreg for econometrics, GeoPandas for I/O.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9D8F"/>
                </a:solidFill>
              </a:defRPr>
            </a:pPr>
            <a:r>
              <a:t>How to Access &amp; Run This Project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Fast Track (5 seconds):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Unpack data/processed_data_bundle.zip and open any notebook.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Notebooks in notebooks/: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00 — Master Executive Handbook &amp; Inspector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01 — Multi-Sector ESDA &amp; Malaria Surveillance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02 — Spatial Econometrics, SAR/SEM &amp; Multipliers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  03 — Decision Intelligence Across 15 Use Cases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GitHub: https://github.com/SammyGIS/dsn_advanced_spatial_stats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</a:defRPr>
            </a:pPr>
            <a:r>
              <a:t>Slides: docs/spatial_statistics_masterclass_presentation.pptx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